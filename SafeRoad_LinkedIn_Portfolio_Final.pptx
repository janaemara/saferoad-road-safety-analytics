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332" autoAdjust="0"/>
  </p:normalViewPr>
  <p:slideViewPr>
    <p:cSldViewPr snapToGrid="0" snapToObjects="1">
      <p:cViewPr varScale="1">
        <p:scale>
          <a:sx n="88" d="100"/>
          <a:sy n="88" d="100"/>
        </p:scale>
        <p:origin x="46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F0A209-D19C-4BFD-81E1-9936879871A6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353F8-D5A2-4C6A-AE18-06C7499D3E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34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C353F8-D5A2-4C6A-AE18-06C7499D3E9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163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8456" cy="6859650"/>
          </a:xfrm>
          <a:prstGeom prst="rect">
            <a:avLst/>
          </a:prstGeom>
        </p:spPr>
      </p:pic>
      <p:pic>
        <p:nvPicPr>
          <p:cNvPr id="2" name="Picture 1" descr="image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6928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DD2B97"/>
                </a:solidFill>
                <a:latin typeface="Aptos"/>
              </a:rPr>
              <a:t>END-TO-END DATA ANALYTICS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987552"/>
            <a:ext cx="521208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800" b="1" i="0">
                <a:solidFill>
                  <a:srgbClr val="F7F5FA"/>
                </a:solidFill>
                <a:latin typeface="Aptos"/>
              </a:rPr>
              <a:t>SafeRoad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691640"/>
            <a:ext cx="57607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7F5FA"/>
                </a:solidFill>
                <a:latin typeface="Aptos"/>
              </a:rPr>
              <a:t>Road Accident Severity
&amp; Risk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3127248"/>
            <a:ext cx="566928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7F5FA"/>
                </a:solidFill>
                <a:latin typeface="Aptos"/>
              </a:rPr>
              <a:t>Understanding where, when, and under what conditions
road collisions are more likely to be severe.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4069080"/>
            <a:ext cx="1508760" cy="54864"/>
          </a:xfrm>
          <a:prstGeom prst="rect">
            <a:avLst/>
          </a:prstGeom>
          <a:solidFill>
            <a:srgbClr val="DD2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66928" y="4407408"/>
            <a:ext cx="960120" cy="384048"/>
          </a:xfrm>
          <a:prstGeom prst="roundRect">
            <a:avLst/>
          </a:prstGeom>
          <a:solidFill>
            <a:srgbClr val="DD2B9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447141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7F5FA"/>
                </a:solidFill>
                <a:latin typeface="Aptos"/>
              </a:rPr>
              <a:t>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19" y="4407408"/>
            <a:ext cx="960120" cy="384048"/>
          </a:xfrm>
          <a:prstGeom prst="roundRect">
            <a:avLst/>
          </a:prstGeom>
          <a:solidFill>
            <a:srgbClr val="DD2B9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45919" y="447141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7F5FA"/>
                </a:solidFill>
                <a:latin typeface="Aptos"/>
              </a:rP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24911" y="4407408"/>
            <a:ext cx="960120" cy="384048"/>
          </a:xfrm>
          <a:prstGeom prst="roundRect">
            <a:avLst/>
          </a:prstGeom>
          <a:solidFill>
            <a:srgbClr val="DD2B9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24911" y="447141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7F5FA"/>
                </a:solidFill>
                <a:latin typeface="Aptos"/>
              </a:rPr>
              <a:t>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03903" y="4407408"/>
            <a:ext cx="1170432" cy="384048"/>
          </a:xfrm>
          <a:prstGeom prst="roundRect">
            <a:avLst/>
          </a:prstGeom>
          <a:solidFill>
            <a:srgbClr val="DD2B9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3903" y="4471416"/>
            <a:ext cx="11704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7F5FA"/>
                </a:solidFill>
                <a:latin typeface="Aptos"/>
              </a:rPr>
              <a:t>POWER BI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02351" y="4407408"/>
            <a:ext cx="960120" cy="384048"/>
          </a:xfrm>
          <a:prstGeom prst="roundRect">
            <a:avLst/>
          </a:prstGeom>
          <a:solidFill>
            <a:srgbClr val="DD2B9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02351" y="4471416"/>
            <a:ext cx="960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 i="0">
                <a:solidFill>
                  <a:srgbClr val="F7F5FA"/>
                </a:solidFill>
                <a:latin typeface="Aptos"/>
              </a:rPr>
              <a:t>TABLEAU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053328"/>
            <a:ext cx="3291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F7F5FA"/>
                </a:solidFill>
                <a:latin typeface="Aptos"/>
              </a:rPr>
              <a:t>2025 UK reported road collisions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98035" y="6016752"/>
            <a:ext cx="1691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50" b="0" i="0" dirty="0">
                <a:solidFill>
                  <a:srgbClr val="F7F5FA"/>
                </a:solidFill>
                <a:latin typeface="Aptos"/>
              </a:rPr>
              <a:t>Portfolio case study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357257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 dirty="0">
                <a:solidFill>
                  <a:srgbClr val="BEB7CC"/>
                </a:solidFill>
                <a:latin typeface="Aptos"/>
              </a:rPr>
              <a:t>SAFEROAD  •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01  •  THE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One dataset. One clear question.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BEB7CC"/>
                </a:solidFill>
                <a:latin typeface="Aptos"/>
              </a:rPr>
              <a:t>The project is built around collision severity — not just accident volume.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8536577" cy="3977639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2157984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THE CORE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615184"/>
            <a:ext cx="6858000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F7F5FA"/>
                </a:solidFill>
                <a:latin typeface="Aptos"/>
              </a:rPr>
              <a:t>Where, when, and under what conditions
are road collisions more likely to be severe?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977639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BEB7CC"/>
                </a:solidFill>
                <a:latin typeface="Aptos"/>
              </a:rPr>
              <a:t>DIMENSIONS EXPLORED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" y="4407408"/>
            <a:ext cx="1627632" cy="393192"/>
          </a:xfrm>
          <a:prstGeom prst="roundRect">
            <a:avLst/>
          </a:prstGeom>
          <a:solidFill>
            <a:srgbClr val="5C194F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4480560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 i="0">
                <a:solidFill>
                  <a:srgbClr val="F7F5FA"/>
                </a:solidFill>
                <a:latin typeface="Aptos"/>
              </a:rPr>
              <a:t>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61488" y="4407408"/>
            <a:ext cx="1627632" cy="393192"/>
          </a:xfrm>
          <a:prstGeom prst="roundRect">
            <a:avLst/>
          </a:prstGeom>
          <a:solidFill>
            <a:srgbClr val="5C194F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61488" y="4480560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 i="0">
                <a:solidFill>
                  <a:srgbClr val="F7F5FA"/>
                </a:solidFill>
                <a:latin typeface="Aptos"/>
              </a:rPr>
              <a:t>LOCATION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18304" y="4407408"/>
            <a:ext cx="1627632" cy="393192"/>
          </a:xfrm>
          <a:prstGeom prst="roundRect">
            <a:avLst/>
          </a:prstGeom>
          <a:solidFill>
            <a:srgbClr val="5C194F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18304" y="4480560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 i="0">
                <a:solidFill>
                  <a:srgbClr val="F7F5FA"/>
                </a:solidFill>
                <a:latin typeface="Aptos"/>
              </a:rPr>
              <a:t>ROAD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" y="5010912"/>
            <a:ext cx="1627632" cy="393192"/>
          </a:xfrm>
          <a:prstGeom prst="roundRect">
            <a:avLst/>
          </a:prstGeom>
          <a:solidFill>
            <a:srgbClr val="5C194F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5084064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 i="0">
                <a:solidFill>
                  <a:srgbClr val="F7F5FA"/>
                </a:solidFill>
                <a:latin typeface="Aptos"/>
              </a:rPr>
              <a:t>WEATHER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61488" y="5010912"/>
            <a:ext cx="1627632" cy="393192"/>
          </a:xfrm>
          <a:prstGeom prst="roundRect">
            <a:avLst/>
          </a:prstGeom>
          <a:solidFill>
            <a:srgbClr val="5C194F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761488" y="5084064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 i="0">
                <a:solidFill>
                  <a:srgbClr val="F7F5FA"/>
                </a:solidFill>
                <a:latin typeface="Aptos"/>
              </a:rPr>
              <a:t>DRIVERS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18304" y="5010912"/>
            <a:ext cx="1627632" cy="393192"/>
          </a:xfrm>
          <a:prstGeom prst="roundRect">
            <a:avLst/>
          </a:prstGeom>
          <a:solidFill>
            <a:srgbClr val="5C194F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18304" y="5084064"/>
            <a:ext cx="162763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19" b="1" i="0">
                <a:solidFill>
                  <a:srgbClr val="F7F5FA"/>
                </a:solidFill>
                <a:latin typeface="Aptos"/>
              </a:rPr>
              <a:t>VEHICLES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02  • 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Three related tables — one analytical view.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19" y="1298448"/>
            <a:ext cx="9302931" cy="53860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 dirty="0">
                <a:solidFill>
                  <a:srgbClr val="BEB7CC"/>
                </a:solidFill>
                <a:latin typeface="Aptos"/>
              </a:rPr>
              <a:t>Official 2025 UK STATS19 road-safety data</a:t>
            </a:r>
            <a:r>
              <a:rPr sz="1450" b="0" i="0" dirty="0" smtClean="0">
                <a:solidFill>
                  <a:srgbClr val="BEB7CC"/>
                </a:solidFill>
                <a:latin typeface="Aptos"/>
              </a:rPr>
              <a:t>.</a:t>
            </a:r>
            <a:endParaRPr lang="en-US" sz="1450" b="0" i="0" dirty="0" smtClean="0">
              <a:solidFill>
                <a:srgbClr val="BEB7CC"/>
              </a:solidFill>
              <a:latin typeface="Aptos"/>
            </a:endParaRPr>
          </a:p>
          <a:p>
            <a:r>
              <a:rPr lang="en-US" sz="1450" dirty="0">
                <a:solidFill>
                  <a:srgbClr val="BEB7CC"/>
                </a:solidFill>
                <a:latin typeface="Aptos"/>
              </a:rPr>
              <a:t>Dataset Link : https://www.gov.uk/government/statistical-data-sets/road-safety-open-data</a:t>
            </a:r>
            <a:endParaRPr sz="1450" b="0" i="0" dirty="0">
              <a:solidFill>
                <a:srgbClr val="BEB7CC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2937" y="6388566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 dirty="0">
                <a:solidFill>
                  <a:srgbClr val="BEB7CC"/>
                </a:solidFill>
                <a:latin typeface="Aptos"/>
              </a:rPr>
              <a:t>Source: UK Department for Transport road-safety open data page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4377" y="1987619"/>
            <a:ext cx="1554480" cy="96012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8969" y="2133923"/>
            <a:ext cx="122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EB7CC"/>
                </a:solidFill>
                <a:latin typeface="Aptos"/>
              </a:rPr>
              <a:t>COLLISIONS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8969" y="2389955"/>
            <a:ext cx="1225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7F5FA"/>
                </a:solidFill>
                <a:latin typeface="Aptos"/>
              </a:rPr>
              <a:t>101,525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1737" y="1987619"/>
            <a:ext cx="1554480" cy="96012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69C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676329" y="2133923"/>
            <a:ext cx="122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EB7CC"/>
                </a:solidFill>
                <a:latin typeface="Aptos"/>
              </a:rPr>
              <a:t>VEHICLES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6329" y="2426531"/>
            <a:ext cx="1225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7F5FA"/>
                </a:solidFill>
                <a:latin typeface="Aptos"/>
              </a:rPr>
              <a:t>183,948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49097" y="1987619"/>
            <a:ext cx="1554480" cy="96012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3689" y="2133923"/>
            <a:ext cx="1225295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BEB7CC"/>
                </a:solidFill>
                <a:latin typeface="Aptos"/>
              </a:rPr>
              <a:t>CASUALTIES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3689" y="2426531"/>
            <a:ext cx="122529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 i="0">
                <a:solidFill>
                  <a:srgbClr val="F7F5FA"/>
                </a:solidFill>
                <a:latin typeface="Aptos"/>
              </a:rPr>
              <a:t>127,883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91" y="3153753"/>
            <a:ext cx="10520772" cy="301752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8968" y="3307380"/>
            <a:ext cx="6886323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RELATIONSHIP USED IN 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8968" y="3764580"/>
            <a:ext cx="9181765" cy="143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80">
                <a:solidFill>
                  <a:srgbClr val="F7F5FA"/>
                </a:solidFill>
                <a:latin typeface="Aptos"/>
              </a:defRPr>
            </a:pPr>
            <a:r>
              <a:t>•  Collisions → one row per collision</a:t>
            </a:r>
          </a:p>
          <a:p>
            <a:pPr>
              <a:spcAft>
                <a:spcPts val="700"/>
              </a:spcAft>
              <a:defRPr sz="1280">
                <a:solidFill>
                  <a:srgbClr val="F7F5FA"/>
                </a:solidFill>
                <a:latin typeface="Aptos"/>
              </a:defRPr>
            </a:pPr>
            <a:r>
              <a:t>•  Vehicles → many vehicle records per collision</a:t>
            </a:r>
          </a:p>
          <a:p>
            <a:pPr>
              <a:spcAft>
                <a:spcPts val="700"/>
              </a:spcAft>
              <a:defRPr sz="1280">
                <a:solidFill>
                  <a:srgbClr val="F7F5FA"/>
                </a:solidFill>
                <a:latin typeface="Aptos"/>
              </a:defRPr>
            </a:pPr>
            <a:r>
              <a:t>•  Casualties → many casualty records per collision</a:t>
            </a:r>
          </a:p>
          <a:p>
            <a:pPr>
              <a:spcAft>
                <a:spcPts val="700"/>
              </a:spcAft>
              <a:defRPr sz="1280">
                <a:solidFill>
                  <a:srgbClr val="F7F5FA"/>
                </a:solidFill>
                <a:latin typeface="Aptos"/>
              </a:defRPr>
            </a:pPr>
            <a:r>
              <a:t>•  Vehicle and casualty tables were summarized first</a:t>
            </a:r>
          </a:p>
          <a:p>
            <a:pPr>
              <a:spcAft>
                <a:spcPts val="700"/>
              </a:spcAft>
              <a:defRPr sz="1280">
                <a:solidFill>
                  <a:srgbClr val="F7F5FA"/>
                </a:solidFill>
                <a:latin typeface="Aptos"/>
              </a:defRPr>
            </a:pPr>
            <a:r>
              <a:t>•  Summaries were then joined back using collision_index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8968" y="5593380"/>
            <a:ext cx="9086121" cy="28469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7F5FA"/>
                </a:solidFill>
                <a:latin typeface="Aptos"/>
              </a:rPr>
              <a:t>This keeps the final analytical dataset at one row per collision.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2557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02920" y="190756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03  • 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36511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F7F5FA"/>
                </a:solidFill>
                <a:latin typeface="Aptos"/>
              </a:rPr>
              <a:t>SQL — Building the Analytical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99324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 dirty="0">
                <a:solidFill>
                  <a:srgbClr val="BEB7CC"/>
                </a:solidFill>
                <a:latin typeface="Aptos"/>
              </a:rPr>
              <a:t>I used SQL to structure the raw records before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991" y="6571788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 dirty="0">
                <a:solidFill>
                  <a:srgbClr val="BEB7CC"/>
                </a:solidFill>
                <a:latin typeface="Aptos"/>
              </a:rPr>
              <a:t>MySQL Workbench • table setup, exploration and final query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3216" y="5417382"/>
            <a:ext cx="8208004" cy="1076081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25233" y="514306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WHAT I 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8093" y="5423529"/>
            <a:ext cx="3611880" cy="107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10">
                <a:solidFill>
                  <a:srgbClr val="F7F5FA"/>
                </a:solidFill>
                <a:latin typeface="Aptos"/>
              </a:defRPr>
            </a:pPr>
            <a:r>
              <a:rPr dirty="0"/>
              <a:t>•  Imported 3 related STATS19 tables</a:t>
            </a:r>
          </a:p>
          <a:p>
            <a:pPr>
              <a:spcAft>
                <a:spcPts val="700"/>
              </a:spcAft>
              <a:defRPr sz="1310">
                <a:solidFill>
                  <a:srgbClr val="F7F5FA"/>
                </a:solidFill>
                <a:latin typeface="Aptos"/>
              </a:defRPr>
            </a:pPr>
            <a:r>
              <a:rPr dirty="0"/>
              <a:t>•  Checked structure and records</a:t>
            </a:r>
          </a:p>
          <a:p>
            <a:pPr>
              <a:spcAft>
                <a:spcPts val="700"/>
              </a:spcAft>
              <a:defRPr sz="1310">
                <a:solidFill>
                  <a:srgbClr val="F7F5FA"/>
                </a:solidFill>
                <a:latin typeface="Aptos"/>
              </a:defRPr>
            </a:pPr>
            <a:r>
              <a:rPr dirty="0"/>
              <a:t>•  Used JOIN to connect collision, vehicle and casualty </a:t>
            </a:r>
            <a:r>
              <a:rPr dirty="0" smtClean="0"/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04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407" y="1318530"/>
            <a:ext cx="5688652" cy="3600242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5338" y="1318530"/>
            <a:ext cx="5384800" cy="3676903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704656" y="5455760"/>
            <a:ext cx="3611880" cy="9884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10">
                <a:solidFill>
                  <a:srgbClr val="F7F5FA"/>
                </a:solidFill>
                <a:latin typeface="Aptos"/>
              </a:defRPr>
            </a:pPr>
            <a:r>
              <a:rPr dirty="0" smtClean="0"/>
              <a:t>•  Aggregated vehicle and casualty records before joining</a:t>
            </a:r>
          </a:p>
          <a:p>
            <a:pPr>
              <a:spcAft>
                <a:spcPts val="700"/>
              </a:spcAft>
              <a:defRPr sz="1310">
                <a:solidFill>
                  <a:srgbClr val="F7F5FA"/>
                </a:solidFill>
                <a:latin typeface="Aptos"/>
              </a:defRPr>
            </a:pPr>
            <a:r>
              <a:rPr dirty="0" smtClean="0"/>
              <a:t>•  Created a final dataset with one row per collision</a:t>
            </a:r>
            <a:endParaRPr dirty="0"/>
          </a:p>
        </p:txBody>
      </p:sp>
      <p:sp>
        <p:nvSpPr>
          <p:cNvPr id="23" name="Rectangle 22"/>
          <p:cNvSpPr/>
          <p:nvPr/>
        </p:nvSpPr>
        <p:spPr>
          <a:xfrm>
            <a:off x="204431" y="1243214"/>
            <a:ext cx="5976604" cy="3787002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325012" y="1243214"/>
            <a:ext cx="5565452" cy="3809632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26127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04  • 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Python — Cleaning &amp; Feature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BEB7CC"/>
                </a:solidFill>
                <a:latin typeface="Aptos"/>
              </a:rPr>
              <a:t>The SQL output became the input for the Python analysis.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69149"/>
            <a:ext cx="5943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 dirty="0" err="1">
                <a:solidFill>
                  <a:srgbClr val="BEB7CC"/>
                </a:solidFill>
                <a:latin typeface="Aptos"/>
              </a:rPr>
              <a:t>Jupyter</a:t>
            </a:r>
            <a:r>
              <a:rPr sz="880" b="0" i="1" dirty="0">
                <a:solidFill>
                  <a:srgbClr val="BEB7CC"/>
                </a:solidFill>
                <a:latin typeface="Aptos"/>
              </a:rPr>
              <a:t> Notebook • cleaning, feature engineering and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" y="1755648"/>
            <a:ext cx="9939528" cy="443484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05748" y="2155778"/>
            <a:ext cx="5378532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FEATURE ENGINEERING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05748" y="2589119"/>
            <a:ext cx="3738887" cy="1131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F7F5FA"/>
                </a:solidFill>
                <a:latin typeface="Aptos"/>
              </a:defRPr>
            </a:pPr>
            <a:r>
              <a:rPr dirty="0"/>
              <a:t>•  Extracted month and day</a:t>
            </a:r>
          </a:p>
          <a:p>
            <a:pPr>
              <a:spcAft>
                <a:spcPts val="700"/>
              </a:spcAft>
              <a:defRPr sz="1250">
                <a:solidFill>
                  <a:srgbClr val="F7F5FA"/>
                </a:solidFill>
                <a:latin typeface="Aptos"/>
              </a:defRPr>
            </a:pPr>
            <a:r>
              <a:rPr dirty="0"/>
              <a:t>•  Created time-of-day groups</a:t>
            </a:r>
          </a:p>
          <a:p>
            <a:pPr>
              <a:spcAft>
                <a:spcPts val="700"/>
              </a:spcAft>
              <a:defRPr sz="1250">
                <a:solidFill>
                  <a:srgbClr val="F7F5FA"/>
                </a:solidFill>
                <a:latin typeface="Aptos"/>
              </a:defRPr>
            </a:pPr>
            <a:r>
              <a:rPr dirty="0"/>
              <a:t>•  Created driver age groups</a:t>
            </a:r>
          </a:p>
          <a:p>
            <a:pPr>
              <a:spcAft>
                <a:spcPts val="700"/>
              </a:spcAft>
              <a:defRPr sz="1250">
                <a:solidFill>
                  <a:srgbClr val="F7F5FA"/>
                </a:solidFill>
                <a:latin typeface="Aptos"/>
              </a:defRPr>
            </a:pPr>
            <a:r>
              <a:rPr dirty="0"/>
              <a:t>•  Decoded severity and road-condition codes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9703" y="5704131"/>
            <a:ext cx="8498081" cy="264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 i="0" dirty="0">
                <a:solidFill>
                  <a:srgbClr val="F7F5FA"/>
                </a:solidFill>
                <a:latin typeface="Aptos"/>
              </a:rPr>
              <a:t>Analysis-ready data → severe-collision rates → pattern exploration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1965960"/>
            <a:ext cx="4114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EB30AA"/>
                </a:solidFill>
                <a:latin typeface="Calibri"/>
              </a:defRPr>
            </a:pPr>
            <a:r>
              <a:rPr dirty="0"/>
              <a:t>DATA CLEANING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2359152"/>
            <a:ext cx="475488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What </a:t>
            </a:r>
            <a:r>
              <a:rPr lang="en-US" sz="1200" b="1" dirty="0" err="1" smtClean="0">
                <a:solidFill>
                  <a:schemeClr val="bg1"/>
                </a:solidFill>
              </a:rPr>
              <a:t>i</a:t>
            </a:r>
            <a:r>
              <a:rPr lang="en-US" sz="1200" b="1" dirty="0" smtClean="0">
                <a:solidFill>
                  <a:schemeClr val="bg1"/>
                </a:solidFill>
              </a:rPr>
              <a:t> </a:t>
            </a:r>
            <a:r>
              <a:rPr lang="en-US" sz="1200" b="1" dirty="0">
                <a:solidFill>
                  <a:schemeClr val="bg1"/>
                </a:solidFill>
              </a:rPr>
              <a:t>found:</a:t>
            </a:r>
            <a:endParaRPr lang="en-US" sz="12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Some missing latitude and longitude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Some missing driver age values.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No duplicate collision records.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Some coded values needed to be converted into readable categories</a:t>
            </a:r>
            <a:r>
              <a:rPr lang="en-US" sz="1200" dirty="0" smtClean="0">
                <a:solidFill>
                  <a:schemeClr val="bg1"/>
                </a:solidFill>
              </a:rPr>
              <a:t>.</a:t>
            </a:r>
          </a:p>
          <a:p>
            <a:endParaRPr lang="en-US" sz="1400" dirty="0">
              <a:solidFill>
                <a:schemeClr val="bg1"/>
              </a:solidFill>
            </a:endParaRPr>
          </a:p>
          <a:p>
            <a:r>
              <a:rPr lang="en-US" sz="1200" b="1" dirty="0">
                <a:solidFill>
                  <a:schemeClr val="bg1"/>
                </a:solidFill>
              </a:rPr>
              <a:t>How </a:t>
            </a:r>
            <a:r>
              <a:rPr lang="en-US" sz="1200" b="1" dirty="0" smtClean="0">
                <a:solidFill>
                  <a:schemeClr val="bg1"/>
                </a:solidFill>
              </a:rPr>
              <a:t>I solved </a:t>
            </a:r>
            <a:r>
              <a:rPr lang="en-US" sz="1200" b="1" dirty="0">
                <a:solidFill>
                  <a:schemeClr val="bg1"/>
                </a:solidFill>
              </a:rPr>
              <a:t>it:</a:t>
            </a:r>
            <a:endParaRPr lang="en-US" sz="12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Kept missing locations because the collisions were still valid for other analyses.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Kept missing driver ages instead of guessing or filling them.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Removed duplicate rows.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Converted codes into clear labels such as </a:t>
            </a:r>
            <a:r>
              <a:rPr lang="en-US" sz="1200" b="1" dirty="0">
                <a:solidFill>
                  <a:schemeClr val="bg1"/>
                </a:solidFill>
              </a:rPr>
              <a:t>Fatal, Serious, Slight, Urban, Rural, Dry, Wet</a:t>
            </a:r>
            <a:r>
              <a:rPr lang="en-US" sz="1200" dirty="0">
                <a:solidFill>
                  <a:schemeClr val="bg1"/>
                </a:solidFill>
              </a:rPr>
              <a:t>, etc. </a:t>
            </a:r>
            <a:endParaRPr lang="en-US" sz="1200" dirty="0" smtClean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b="1" dirty="0" smtClean="0">
                <a:solidFill>
                  <a:schemeClr val="bg1"/>
                </a:solidFill>
              </a:rPr>
              <a:t>Result : </a:t>
            </a:r>
            <a:r>
              <a:rPr lang="en-US" sz="1200" dirty="0" smtClean="0">
                <a:solidFill>
                  <a:schemeClr val="bg1"/>
                </a:solidFill>
              </a:rPr>
              <a:t>A </a:t>
            </a:r>
            <a:r>
              <a:rPr lang="en-US" sz="1200" dirty="0">
                <a:solidFill>
                  <a:schemeClr val="bg1"/>
                </a:solidFill>
              </a:rPr>
              <a:t>clean and analysis-ready dataset was created without unnecessarily removing valid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05  •  EXCEL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Excel — Validation &amp; First-Level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BEB7CC"/>
                </a:solidFill>
                <a:latin typeface="Aptos"/>
              </a:rPr>
              <a:t>Excel was used as a cross-check before the BI dashboards.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3894" y="1838534"/>
            <a:ext cx="6400800" cy="4069080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3014" y="6457604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 dirty="0">
                <a:solidFill>
                  <a:srgbClr val="BEB7CC"/>
                </a:solidFill>
                <a:latin typeface="Aptos"/>
              </a:rPr>
              <a:t>Excel Dashboard • PivotTables, KPIs and slicers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36408" y="1216152"/>
            <a:ext cx="3435530" cy="2728239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7258" y="1366258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WHAT I DID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7530" y="1684716"/>
            <a:ext cx="32918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 dirty="0"/>
              <a:t>•  Validated the cleaned dataset</a:t>
            </a:r>
          </a:p>
          <a:p>
            <a:pPr>
              <a:spcAft>
                <a:spcPts val="7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 dirty="0"/>
              <a:t>•  Built PivotTables</a:t>
            </a:r>
          </a:p>
          <a:p>
            <a:pPr>
              <a:spcAft>
                <a:spcPts val="7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 dirty="0"/>
              <a:t>•  Created KPIs</a:t>
            </a:r>
          </a:p>
          <a:p>
            <a:pPr>
              <a:spcAft>
                <a:spcPts val="7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 dirty="0"/>
              <a:t>•  Added slicers for filtering</a:t>
            </a:r>
          </a:p>
          <a:p>
            <a:pPr>
              <a:spcAft>
                <a:spcPts val="700"/>
              </a:spcAft>
              <a:defRPr sz="1300">
                <a:solidFill>
                  <a:srgbClr val="F7F5FA"/>
                </a:solidFill>
                <a:latin typeface="Aptos"/>
              </a:defRPr>
            </a:pPr>
            <a:r>
              <a:rPr dirty="0"/>
              <a:t>•  Compared severity across conditions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7258" y="3308670"/>
            <a:ext cx="3154680" cy="4370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1" i="0" dirty="0">
                <a:solidFill>
                  <a:srgbClr val="F7F5FA"/>
                </a:solidFill>
                <a:latin typeface="Aptos"/>
              </a:rPr>
              <a:t>Excel validated the numbers before </a:t>
            </a:r>
            <a:r>
              <a:rPr sz="1120" b="1" i="0" dirty="0" smtClean="0">
                <a:solidFill>
                  <a:srgbClr val="F7F5FA"/>
                </a:solidFill>
                <a:latin typeface="Aptos"/>
              </a:rPr>
              <a:t>visualization</a:t>
            </a:r>
            <a:r>
              <a:rPr lang="en-US" sz="1120" b="1" i="0" dirty="0" smtClean="0">
                <a:solidFill>
                  <a:srgbClr val="F7F5FA"/>
                </a:solidFill>
                <a:latin typeface="Aptos"/>
              </a:rPr>
              <a:t>!</a:t>
            </a:r>
            <a:endParaRPr sz="1120" b="1" i="0" dirty="0">
              <a:solidFill>
                <a:srgbClr val="F7F5FA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06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561" y="1870538"/>
            <a:ext cx="6363465" cy="400507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057" y="4111023"/>
            <a:ext cx="2446232" cy="1897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06  • 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Power BI —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BEB7CC"/>
                </a:solidFill>
                <a:latin typeface="Aptos"/>
              </a:rPr>
              <a:t>Interactive risk analysis starts with the overall picture.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5582" y="1901952"/>
            <a:ext cx="8083203" cy="4297680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5582" y="6400800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 dirty="0">
                <a:solidFill>
                  <a:srgbClr val="BEB7CC"/>
                </a:solidFill>
                <a:latin typeface="Aptos"/>
              </a:rPr>
              <a:t>Power BI • Overview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43175" y="2279929"/>
            <a:ext cx="3337560" cy="2123625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91864" y="253104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KEY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7564" y="2988249"/>
            <a:ext cx="3068782" cy="101566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Over 1 in 4 reported collisions in 2025 were severe, with 1,453 resulting in fatalities, highlighting the need to understand when, where, and under what conditions collision severity increases.</a:t>
            </a:r>
            <a:endParaRPr sz="1100" b="0" i="1" dirty="0">
              <a:solidFill>
                <a:schemeClr val="bg1"/>
              </a:solidFill>
            </a:endParaRPr>
          </a:p>
        </p:txBody>
      </p:sp>
      <p:pic>
        <p:nvPicPr>
          <p:cNvPr id="29" name="Picture 2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400" y="1975641"/>
            <a:ext cx="7915564" cy="41388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07  • 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2892" y="5989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 dirty="0">
                <a:solidFill>
                  <a:srgbClr val="F7F5FA"/>
                </a:solidFill>
                <a:latin typeface="Aptos"/>
              </a:rPr>
              <a:t>Power BI — When &amp; Where Risk Rises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892" y="1487055"/>
            <a:ext cx="7822890" cy="4796254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35144" y="6420184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>
                <a:solidFill>
                  <a:srgbClr val="BEB7CC"/>
                </a:solidFill>
                <a:latin typeface="Aptos"/>
              </a:rPr>
              <a:t>Power BI • When &amp; Where Risk Rises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906847"/>
            <a:ext cx="3228109" cy="3660833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40800" y="2161523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KEY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2657906"/>
            <a:ext cx="2697480" cy="249299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Severe collisions are more common during the night and evening, with rural areas showing a higher severe-collision rate than urban areas. </a:t>
            </a:r>
            <a:endParaRPr lang="en-US" sz="1200" dirty="0" smtClean="0">
              <a:solidFill>
                <a:schemeClr val="bg1"/>
              </a:solidFill>
            </a:endParaRPr>
          </a:p>
          <a:p>
            <a:endParaRPr lang="en-US" sz="12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bg1"/>
                </a:solidFill>
              </a:rPr>
              <a:t>While </a:t>
            </a:r>
            <a:r>
              <a:rPr lang="en-US" sz="1200" dirty="0">
                <a:solidFill>
                  <a:schemeClr val="bg1"/>
                </a:solidFill>
              </a:rPr>
              <a:t>the number of collisions increases during the daytime and peaks in the afternoon, darker conditions, especially areas with no lighting, are associated with higher severe-collision rates than daylight conditions.</a:t>
            </a:r>
            <a:endParaRPr sz="120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08</a:t>
            </a: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561676"/>
            <a:ext cx="7653251" cy="467672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08  • 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Power BI — Road &amp; Weather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79" y="1389888"/>
            <a:ext cx="7571047" cy="4846320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2455" y="6419088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>
                <a:solidFill>
                  <a:srgbClr val="BEB7CC"/>
                </a:solidFill>
                <a:latin typeface="Aptos"/>
              </a:rPr>
              <a:t>Power BI • Road &amp; Weather Risk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77545" y="2129796"/>
            <a:ext cx="3337560" cy="3605415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851205" y="2429646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KEY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0883" y="2766852"/>
            <a:ext cx="3081055" cy="26776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Severe collision rates are higher under certain weather and road conditions, with fine weather and high winds showing the highest weather-related rate. </a:t>
            </a:r>
            <a:endParaRPr lang="en-US" sz="1400" dirty="0" smtClean="0">
              <a:solidFill>
                <a:schemeClr val="bg1"/>
              </a:solidFill>
            </a:endParaRPr>
          </a:p>
          <a:p>
            <a:endParaRPr lang="en-US" sz="1400" dirty="0" smtClean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smtClean="0">
                <a:solidFill>
                  <a:schemeClr val="bg1"/>
                </a:solidFill>
              </a:rPr>
              <a:t>Flooded </a:t>
            </a:r>
            <a:r>
              <a:rPr lang="en-US" sz="1400" dirty="0">
                <a:solidFill>
                  <a:schemeClr val="bg1"/>
                </a:solidFill>
              </a:rPr>
              <a:t>road surfaces also have a high severe-collision rate, while single carriageways account for the largest number of collisions and show a noticeable share of severe outcomes.</a:t>
            </a:r>
            <a:endParaRPr sz="120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09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002" y="1481329"/>
            <a:ext cx="7420557" cy="465531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09  •  POWER 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Power BI — Driver &amp; Location Insights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9455" y="1389887"/>
            <a:ext cx="7958327" cy="4789239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7036" y="6496812"/>
            <a:ext cx="6217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 dirty="0">
                <a:solidFill>
                  <a:srgbClr val="BEB7CC"/>
                </a:solidFill>
                <a:latin typeface="Aptos"/>
              </a:rPr>
              <a:t>Power BI • Driver &amp; Location Insights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90959" y="2506841"/>
            <a:ext cx="3337560" cy="3060469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11982" y="266229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KEY INSIGHTS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64200" y="2936610"/>
            <a:ext cx="2697480" cy="23083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Severe collisions show a clear difference across driver age groups, with the 66+ group having the highest severe-collision rate (33.53%), while younger and middle-aged groups have lower rates. </a:t>
            </a:r>
            <a:endParaRPr lang="en-US" sz="1200" dirty="0" smtClean="0">
              <a:solidFill>
                <a:schemeClr val="bg1"/>
              </a:solidFill>
            </a:endParaRPr>
          </a:p>
          <a:p>
            <a:endParaRPr lang="en-US" sz="1200" dirty="0" smtClean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chemeClr val="bg1"/>
                </a:solidFill>
              </a:rPr>
              <a:t>Fatal </a:t>
            </a:r>
            <a:r>
              <a:rPr lang="en-US" sz="1200" dirty="0">
                <a:solidFill>
                  <a:schemeClr val="bg1"/>
                </a:solidFill>
              </a:rPr>
              <a:t>collisions also have a slightly higher average driver age than serious and slight collisions, and collisions involving multiple vehicles show a 23.37% severe-collision rate.</a:t>
            </a:r>
            <a:endParaRPr sz="1200" i="0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>
                <a:solidFill>
                  <a:srgbClr val="BEB7CC"/>
                </a:solidFill>
                <a:latin typeface="Aptos"/>
              </a:rPr>
              <a:t>SAFEROAD  •  10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" y="1478629"/>
            <a:ext cx="7688164" cy="45564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10  •  TABLEAU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Tableau — Visual Storytelling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8229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BEB7CC"/>
                </a:solidFill>
                <a:latin typeface="Aptos"/>
              </a:rPr>
              <a:t>The same cleaned analysis was communicated through a second BI platform.</a:t>
            </a:r>
          </a:p>
        </p:txBody>
      </p:sp>
      <p:sp>
        <p:nvSpPr>
          <p:cNvPr id="8" name="Rectangle 7"/>
          <p:cNvSpPr/>
          <p:nvPr/>
        </p:nvSpPr>
        <p:spPr>
          <a:xfrm>
            <a:off x="387927" y="1901952"/>
            <a:ext cx="8578738" cy="4389120"/>
          </a:xfrm>
          <a:prstGeom prst="rect">
            <a:avLst/>
          </a:prstGeom>
          <a:noFill/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982" y="6446520"/>
            <a:ext cx="71323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 i="1">
                <a:solidFill>
                  <a:srgbClr val="BEB7CC"/>
                </a:solidFill>
                <a:latin typeface="Aptos"/>
              </a:rPr>
              <a:t>Tableau • presentation-ready dashboard and comparisons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3211" y="2214364"/>
            <a:ext cx="2788920" cy="3628875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04760" y="2467947"/>
            <a:ext cx="2148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 dirty="0">
                <a:solidFill>
                  <a:srgbClr val="DD2B97"/>
                </a:solidFill>
                <a:latin typeface="Aptos"/>
              </a:rPr>
              <a:t>WHAT TABLEAU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4592" y="2878181"/>
            <a:ext cx="21488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40">
                <a:solidFill>
                  <a:srgbClr val="F7F5FA"/>
                </a:solidFill>
                <a:latin typeface="Aptos"/>
              </a:defRPr>
            </a:pPr>
            <a:r>
              <a:rPr dirty="0"/>
              <a:t>•  Interactive visual exploration</a:t>
            </a:r>
          </a:p>
          <a:p>
            <a:pPr>
              <a:spcAft>
                <a:spcPts val="700"/>
              </a:spcAft>
              <a:defRPr sz="1240">
                <a:solidFill>
                  <a:srgbClr val="F7F5FA"/>
                </a:solidFill>
                <a:latin typeface="Aptos"/>
              </a:defRPr>
            </a:pPr>
            <a:r>
              <a:rPr dirty="0"/>
              <a:t>•  Comparison of collision patterns</a:t>
            </a:r>
          </a:p>
          <a:p>
            <a:pPr>
              <a:spcAft>
                <a:spcPts val="700"/>
              </a:spcAft>
              <a:defRPr sz="1240">
                <a:solidFill>
                  <a:srgbClr val="F7F5FA"/>
                </a:solidFill>
                <a:latin typeface="Aptos"/>
              </a:defRPr>
            </a:pPr>
            <a:r>
              <a:rPr dirty="0"/>
              <a:t>•  Clear presentation of severity rates</a:t>
            </a:r>
          </a:p>
          <a:p>
            <a:pPr>
              <a:spcAft>
                <a:spcPts val="700"/>
              </a:spcAft>
              <a:defRPr sz="1240">
                <a:solidFill>
                  <a:srgbClr val="F7F5FA"/>
                </a:solidFill>
                <a:latin typeface="Aptos"/>
              </a:defRPr>
            </a:pPr>
            <a:r>
              <a:rPr dirty="0"/>
              <a:t>•  Story-focused dashboard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7196" y="4921865"/>
            <a:ext cx="21488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 dirty="0">
                <a:solidFill>
                  <a:srgbClr val="F7F5FA"/>
                </a:solidFill>
                <a:latin typeface="Aptos"/>
              </a:rPr>
              <a:t>Power BI + Tableau
made the analysis easier to explore and communicate.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473952"/>
            <a:ext cx="13258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 dirty="0">
                <a:solidFill>
                  <a:srgbClr val="BEB7CC"/>
                </a:solidFill>
                <a:latin typeface="Aptos"/>
              </a:rPr>
              <a:t>SAFEROAD  •  11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353" y="1946527"/>
            <a:ext cx="8420327" cy="42695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900" b="1">
                <a:solidFill>
                  <a:srgbClr val="F5F5FA"/>
                </a:solidFill>
                <a:latin typeface="Aptos"/>
              </a:defRPr>
            </a:pPr>
            <a:r>
              <a:t>Road Safety Recommendations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0">
                <a:solidFill>
                  <a:srgbClr val="BEBCD2"/>
                </a:solidFill>
                <a:latin typeface="Aptos"/>
              </a:defRPr>
            </a:pPr>
            <a:r>
              <a:t>Focus safety efforts on the conditions associated with higher severe-collision rates.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508760"/>
            <a:ext cx="5394960" cy="1965960"/>
          </a:xfrm>
          <a:prstGeom prst="roundRect">
            <a:avLst/>
          </a:prstGeom>
          <a:solidFill>
            <a:srgbClr val="1C193A"/>
          </a:solidFill>
          <a:ln w="16510">
            <a:solidFill>
              <a:srgbClr val="E1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1673351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E14CB4"/>
                </a:solidFill>
                <a:latin typeface="Aptos"/>
              </a:defRPr>
            </a:pPr>
            <a:r>
              <a:t>Night &amp; Lighting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21305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Improve lighting in areas with higher severe-collision rates.</a:t>
            </a:r>
          </a:p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Focus safety measures on poorly lit roads.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9632" y="1508760"/>
            <a:ext cx="5394960" cy="1965960"/>
          </a:xfrm>
          <a:prstGeom prst="roundRect">
            <a:avLst/>
          </a:prstGeom>
          <a:solidFill>
            <a:srgbClr val="1C193A"/>
          </a:solidFill>
          <a:ln w="16510">
            <a:solidFill>
              <a:srgbClr val="E1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28232" y="1673351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E14CB4"/>
                </a:solidFill>
                <a:latin typeface="Aptos"/>
              </a:defRPr>
            </a:pPr>
            <a:r>
              <a:t>Rural &amp; Single-Carriageway Roads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13055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Give extra attention to rural roads and single carriageways.</a:t>
            </a:r>
          </a:p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Review high-risk locations for possible safety improvements.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03320"/>
            <a:ext cx="5394960" cy="1965960"/>
          </a:xfrm>
          <a:prstGeom prst="roundRect">
            <a:avLst/>
          </a:prstGeom>
          <a:solidFill>
            <a:srgbClr val="1C193A"/>
          </a:solidFill>
          <a:ln w="16510">
            <a:solidFill>
              <a:srgbClr val="E1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60" y="3867911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E14CB4"/>
                </a:solidFill>
                <a:latin typeface="Aptos"/>
              </a:defRPr>
            </a:pPr>
            <a:r>
              <a:t>Road &amp; Weather Conditions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" y="432511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Use clearer warnings during difficult road conditions.</a:t>
            </a:r>
          </a:p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Pay special attention to flooding and poor visibility.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9632" y="3703320"/>
            <a:ext cx="5394960" cy="1965960"/>
          </a:xfrm>
          <a:prstGeom prst="roundRect">
            <a:avLst/>
          </a:prstGeom>
          <a:solidFill>
            <a:srgbClr val="1C193A"/>
          </a:solidFill>
          <a:ln w="16510">
            <a:solidFill>
              <a:srgbClr val="E14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28232" y="3867911"/>
            <a:ext cx="4937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00" b="1">
                <a:solidFill>
                  <a:srgbClr val="E14CB4"/>
                </a:solidFill>
                <a:latin typeface="Aptos"/>
              </a:defRPr>
            </a:pPr>
            <a:r>
              <a:t>Driver Safety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5664" y="4325112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Increase awareness and safety programs for older drivers.</a:t>
            </a:r>
          </a:p>
          <a:p>
            <a:pPr>
              <a:spcAft>
                <a:spcPts val="1000"/>
              </a:spcAft>
              <a:defRPr sz="1350">
                <a:solidFill>
                  <a:srgbClr val="F5F5FA"/>
                </a:solidFill>
                <a:latin typeface="Aptos"/>
              </a:defRPr>
            </a:pPr>
            <a:r>
              <a:t>• Promote safer driving practices in higher-risk situations.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989320"/>
            <a:ext cx="11000232" cy="502920"/>
          </a:xfrm>
          <a:prstGeom prst="roundRect">
            <a:avLst/>
          </a:prstGeom>
          <a:solidFill>
            <a:srgbClr val="271F43"/>
          </a:solidFill>
          <a:ln>
            <a:solidFill>
              <a:srgbClr val="271F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" y="6071616"/>
            <a:ext cx="10561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 b="1">
                <a:solidFill>
                  <a:srgbClr val="F5F5FA"/>
                </a:solidFill>
                <a:latin typeface="Aptos"/>
              </a:defRPr>
            </a:pPr>
            <a:r>
              <a:t>Takeaway: Target road-safety efforts where, when, and under which conditions severe collisions are more common.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6473952"/>
            <a:ext cx="13258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 dirty="0">
                <a:solidFill>
                  <a:srgbClr val="BEB7CC"/>
                </a:solidFill>
                <a:latin typeface="Aptos"/>
              </a:rPr>
              <a:t>SAFEROAD  •  </a:t>
            </a:r>
            <a:r>
              <a:rPr sz="850" b="1" i="0" dirty="0" smtClean="0">
                <a:solidFill>
                  <a:srgbClr val="BEB7CC"/>
                </a:solidFill>
                <a:latin typeface="Aptos"/>
              </a:rPr>
              <a:t>1</a:t>
            </a:r>
            <a:r>
              <a:rPr lang="en-US" sz="850" b="1" i="0" dirty="0" smtClean="0">
                <a:solidFill>
                  <a:srgbClr val="BEB7CC"/>
                </a:solidFill>
                <a:latin typeface="Aptos"/>
              </a:rPr>
              <a:t>2</a:t>
            </a:r>
            <a:endParaRPr sz="850" b="1" i="0" dirty="0">
              <a:solidFill>
                <a:srgbClr val="BEB7CC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52227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47472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 i="0">
                <a:solidFill>
                  <a:srgbClr val="DD2B97"/>
                </a:solidFill>
                <a:latin typeface="Aptos"/>
              </a:rPr>
              <a:t>11  •  FINAL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F7F5FA"/>
                </a:solidFill>
                <a:latin typeface="Aptos"/>
              </a:rPr>
              <a:t>From Raw Data to Road Safety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98448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0" i="0">
                <a:solidFill>
                  <a:srgbClr val="BEB7CC"/>
                </a:solidFill>
                <a:latin typeface="Aptos"/>
              </a:rPr>
              <a:t>One project. Five tools. One coherent analytical story.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1627632" cy="196596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69C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C1E5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1576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7F5FA"/>
                </a:solidFill>
                <a:latin typeface="Aptos"/>
              </a:rPr>
              <a:t>RAW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7832"/>
            <a:ext cx="13533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BEB7CC"/>
                </a:solidFill>
                <a:latin typeface="Aptos"/>
              </a:rPr>
              <a:t>Official 2025
STATS19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2953512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DD2B97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59152" y="2148840"/>
            <a:ext cx="1627632" cy="196596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96312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DD2B97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96312" y="271576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7F5FA"/>
                </a:solidFill>
                <a:latin typeface="Aptos"/>
              </a:rPr>
              <a:t>SQL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96312" y="3227832"/>
            <a:ext cx="13533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BEB7CC"/>
                </a:solidFill>
                <a:latin typeface="Aptos"/>
              </a:rPr>
              <a:t>Load • explore
•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2" y="2953512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DD2B97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15384" y="2148840"/>
            <a:ext cx="1627632" cy="196596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52544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B5CA5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2544" y="271576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7F5FA"/>
                </a:solidFill>
                <a:latin typeface="Aptos"/>
              </a:rPr>
              <a:t>PYTHON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52544" y="3227832"/>
            <a:ext cx="13533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BEB7CC"/>
                </a:solidFill>
                <a:latin typeface="Aptos"/>
              </a:rPr>
              <a:t>Clean • engineer
• analyze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61304" y="2953512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DD2B97"/>
                </a:solidFill>
                <a:latin typeface="Aptos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71616" y="2148840"/>
            <a:ext cx="1627632" cy="196596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69C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08776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69C1E5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271576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7F5FA"/>
                </a:solidFill>
                <a:latin typeface="Aptos"/>
              </a:rPr>
              <a:t>EXCEL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08776" y="3227832"/>
            <a:ext cx="13533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BEB7CC"/>
                </a:solidFill>
                <a:latin typeface="Aptos"/>
              </a:rPr>
              <a:t>Validate • pivot
• cross-check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536" y="2953512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DD2B97"/>
                </a:solidFill>
                <a:latin typeface="Aptos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27848" y="2148840"/>
            <a:ext cx="1627632" cy="196596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65008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DD2B97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65008" y="271576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7F5FA"/>
                </a:solidFill>
                <a:latin typeface="Aptos"/>
              </a:rPr>
              <a:t>POWER BI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65008" y="3227832"/>
            <a:ext cx="13533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BEB7CC"/>
                </a:solidFill>
                <a:latin typeface="Aptos"/>
              </a:rPr>
              <a:t>KPIs • filters
• risk pages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73768" y="2953512"/>
            <a:ext cx="182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i="0">
                <a:solidFill>
                  <a:srgbClr val="DD2B97"/>
                </a:solidFill>
                <a:latin typeface="Aptos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784080" y="2148840"/>
            <a:ext cx="1627632" cy="1965960"/>
          </a:xfrm>
          <a:prstGeom prst="roundRect">
            <a:avLst/>
          </a:prstGeom>
          <a:solidFill>
            <a:srgbClr val="1D1737"/>
          </a:solidFill>
          <a:ln w="15240">
            <a:solidFill>
              <a:srgbClr val="8B5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921240" y="2286000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8B5CA5"/>
                </a:solidFill>
                <a:latin typeface="Aptos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715768"/>
            <a:ext cx="13533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i="0">
                <a:solidFill>
                  <a:srgbClr val="F7F5FA"/>
                </a:solidFill>
                <a:latin typeface="Aptos"/>
              </a:rPr>
              <a:t>TABLEAU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227832"/>
            <a:ext cx="1353312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 i="0">
                <a:solidFill>
                  <a:srgbClr val="BEB7CC"/>
                </a:solidFill>
                <a:latin typeface="Aptos"/>
              </a:rPr>
              <a:t>Storytelling •
comparisons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4709160"/>
            <a:ext cx="10972800" cy="960120"/>
          </a:xfrm>
          <a:prstGeom prst="roundRect">
            <a:avLst/>
          </a:prstGeom>
          <a:solidFill>
            <a:srgbClr val="341441"/>
          </a:solidFill>
          <a:ln w="15240">
            <a:solidFill>
              <a:srgbClr val="DD2B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9808" y="4919472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DD2B97"/>
                </a:solidFill>
                <a:latin typeface="Aptos"/>
              </a:rPr>
              <a:t>SAFER ROAD INSIGHTS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80360" y="4873752"/>
            <a:ext cx="8046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7F5FA"/>
                </a:solidFill>
                <a:latin typeface="Aptos"/>
              </a:rPr>
              <a:t>Where • When • Road • Weather • Drivers • Vehicles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989320"/>
            <a:ext cx="7772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F7F5FA"/>
                </a:solidFill>
                <a:latin typeface="Aptos"/>
              </a:rPr>
              <a:t>The handoff remained traceable from raw records to final dashboards.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20" y="6473952"/>
            <a:ext cx="1325880" cy="2231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1" i="0" dirty="0">
                <a:solidFill>
                  <a:srgbClr val="BEB7CC"/>
                </a:solidFill>
                <a:latin typeface="Aptos"/>
              </a:rPr>
              <a:t>SAFEROAD  •  </a:t>
            </a:r>
            <a:r>
              <a:rPr sz="850" b="1" i="0" dirty="0" smtClean="0">
                <a:solidFill>
                  <a:srgbClr val="BEB7CC"/>
                </a:solidFill>
                <a:latin typeface="Aptos"/>
              </a:rPr>
              <a:t>1</a:t>
            </a:r>
            <a:r>
              <a:rPr lang="en-US" sz="850" b="1" i="0" dirty="0" smtClean="0">
                <a:solidFill>
                  <a:srgbClr val="BEB7CC"/>
                </a:solidFill>
                <a:latin typeface="Aptos"/>
              </a:rPr>
              <a:t>3</a:t>
            </a:r>
            <a:endParaRPr sz="850" b="1" i="0" dirty="0">
              <a:solidFill>
                <a:srgbClr val="BEB7CC"/>
              </a:solidFill>
              <a:latin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1057</Words>
  <Application>Microsoft Office PowerPoint</Application>
  <PresentationFormat>Widescreen</PresentationFormat>
  <Paragraphs>181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USER</cp:lastModifiedBy>
  <cp:revision>14</cp:revision>
  <dcterms:created xsi:type="dcterms:W3CDTF">2013-01-27T09:14:16Z</dcterms:created>
  <dcterms:modified xsi:type="dcterms:W3CDTF">2026-09-23T19:46:33Z</dcterms:modified>
  <cp:category/>
</cp:coreProperties>
</file>